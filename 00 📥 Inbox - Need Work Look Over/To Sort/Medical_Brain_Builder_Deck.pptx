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Research backbone summarized from retrieval practice, distributed practice, signaling, and spacing/interleaving literature: Karpicke &amp; Blunt (2011); Roediger &amp; Butler (2011); Dunlosky et al. (2013); van Gog (2014); Schneider et al. (2018); Bjork &amp; Bjork (2020).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Karpicke &amp; Blunt (2011): retrieval practice produced more learning than elaborative concept mapping.
- Dunlosky et al. (2013): practice testing and distributed practice received high-utility assessments; interleaving/self-explanation moderate.
- van Gog (2014): signaling/cueing improves multimedia learning by guiding attention to relevant elements.
- Schneider et al. (2018): signaling improved retention and transfer and reduced cognitive load.
- Bjork &amp; Bjork (2020): spacing/interleaving are desirable difficulties that feel harder but support long-term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General system design applies retrieval practice, distributed practice, signaling, and desirable difficulty principles summarized in the cited learning-science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Signaling/cueing research supports explicit headings, cueing, and highlighted organization to guide attention and reduce cognitive load (van Gog, 2014; Schneider et al., 2018).
- Retrieval-practice literature supports question-first framing and low-stakes recall opportunities (Roediger &amp; Butler, 2011; Dunlosky et al., 2013).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The sequence operationalizes research-backed practices: signal structure, front-load conceptual models, space later review, and end with retrieval rather than passive 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Signaling/cueing principle: label visuals with explicit cues, arrows, and organizational highlights to improve retention and transfer (van Gog, 2014; Schneider et al., 2018).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Example lecture structure adapted from the user’s current cerebellum objective workflow and applies the same research-backed design rules summarized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321"/>
          </a:solidFill>
          <a:ln w="12700">
            <a:solidFill>
              <a:srgbClr val="0D13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47472"/>
            <a:ext cx="11274552" cy="54864"/>
          </a:xfrm>
          <a:prstGeom prst="rect">
            <a:avLst/>
          </a:prstGeom>
          <a:solidFill>
            <a:srgbClr val="E0B66B"/>
          </a:solidFill>
          <a:ln w="12700">
            <a:solidFill>
              <a:srgbClr val="E0B6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8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 Brain Builder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92640" y="109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96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Jafar lecture system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96A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96A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321"/>
          </a:solidFill>
          <a:ln w="12700">
            <a:solidFill>
              <a:srgbClr val="0D13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749808"/>
            <a:ext cx="1234440" cy="73152"/>
          </a:xfrm>
          <a:prstGeom prst="rect">
            <a:avLst/>
          </a:prstGeom>
          <a:solidFill>
            <a:srgbClr val="E0B66B"/>
          </a:solidFill>
          <a:ln w="12700">
            <a:solidFill>
              <a:srgbClr val="E0B6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960120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Medical Brain Builder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94360" y="1700784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6D8E2"/>
                </a:solidFill>
              </a:rPr>
              <a:t>A lecture-overview system and prompt that turns objectives into understanding, retention, clinical anchors, and usable review slides.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452360" y="914400"/>
            <a:ext cx="4069080" cy="4754880"/>
          </a:xfrm>
          <a:prstGeom prst="roundRect">
            <a:avLst>
              <a:gd name="adj" fmla="val 4045"/>
            </a:avLst>
          </a:prstGeom>
          <a:solidFill>
            <a:srgbClr val="151C2E"/>
          </a:solidFill>
          <a:ln w="12700">
            <a:solidFill>
              <a:srgbClr val="2E3A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18120" y="1353312"/>
            <a:ext cx="1078992" cy="512064"/>
          </a:xfrm>
          <a:prstGeom prst="ellipse">
            <a:avLst/>
          </a:prstGeom>
          <a:solidFill>
            <a:srgbClr val="E0B66B"/>
          </a:solidFill>
          <a:ln w="12700">
            <a:solidFill>
              <a:srgbClr val="E0B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508760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Objectives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372600" y="1993392"/>
            <a:ext cx="1078992" cy="512064"/>
          </a:xfrm>
          <a:prstGeom prst="ellipse">
            <a:avLst/>
          </a:prstGeom>
          <a:solidFill>
            <a:srgbClr val="C9DBF8"/>
          </a:solidFill>
          <a:ln w="12700">
            <a:solidFill>
              <a:srgbClr val="7AA2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72600" y="2148840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Big idea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2788920"/>
            <a:ext cx="1078992" cy="512064"/>
          </a:xfrm>
          <a:prstGeom prst="ellipse">
            <a:avLst/>
          </a:prstGeom>
          <a:solidFill>
            <a:srgbClr val="C9DBF8"/>
          </a:solidFill>
          <a:ln w="12700">
            <a:solidFill>
              <a:srgbClr val="7AA2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294436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Mind map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217152" y="3584448"/>
            <a:ext cx="1078992" cy="512064"/>
          </a:xfrm>
          <a:prstGeom prst="ellipse">
            <a:avLst/>
          </a:prstGeom>
          <a:solidFill>
            <a:srgbClr val="C9DBF8"/>
          </a:solidFill>
          <a:ln w="12700">
            <a:solidFill>
              <a:srgbClr val="7AA2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17152" y="3739896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Clinical anchor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92440" y="4434840"/>
            <a:ext cx="1078992" cy="512064"/>
          </a:xfrm>
          <a:prstGeom prst="ellipse">
            <a:avLst/>
          </a:prstGeom>
          <a:solidFill>
            <a:srgbClr val="C9DBF8"/>
          </a:solidFill>
          <a:ln w="12700">
            <a:solidFill>
              <a:srgbClr val="7AA2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2440" y="459028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Retrieval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1792" y="519379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Built for 5–15 content slides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plus 5–10 MCQs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" y="607161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B2"/>
                </a:solidFill>
              </a:rPr>
              <a:t>Use this deck + the markdown prompt as the source text you feed into Claude / Canva.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9377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structure sticks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8E2"/>
                </a:solidFill>
              </a:rPr>
              <a:t>Research-backed principles to build a pre-read that survives past the same day.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5486400" cy="4892040"/>
          </a:xfrm>
          <a:prstGeom prst="roundRect">
            <a:avLst>
              <a:gd name="adj" fmla="val 2991"/>
            </a:avLst>
          </a:prstGeom>
          <a:solidFill>
            <a:srgbClr val="F7F4EE"/>
          </a:solidFill>
          <a:ln w="12700">
            <a:solidFill>
              <a:srgbClr val="D9DDE7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55080" y="1325880"/>
            <a:ext cx="5230368" cy="4892040"/>
          </a:xfrm>
          <a:prstGeom prst="roundRect">
            <a:avLst>
              <a:gd name="adj" fmla="val 2991"/>
            </a:avLst>
          </a:prstGeom>
          <a:solidFill>
            <a:srgbClr val="F0F3F9"/>
          </a:solidFill>
          <a:ln w="12700">
            <a:solidFill>
              <a:srgbClr val="D9DDE7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572768"/>
            <a:ext cx="384048" cy="310896"/>
          </a:xfrm>
          <a:prstGeom prst="roundRect">
            <a:avLst>
              <a:gd name="adj" fmla="val 35294"/>
            </a:avLst>
          </a:prstGeom>
          <a:solidFill>
            <a:srgbClr val="E0B66B"/>
          </a:solidFill>
          <a:ln w="12700">
            <a:solidFill>
              <a:srgbClr val="E0B6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0477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41248" y="2395728"/>
            <a:ext cx="384048" cy="310896"/>
          </a:xfrm>
          <a:prstGeom prst="roundRect">
            <a:avLst>
              <a:gd name="adj" fmla="val 35294"/>
            </a:avLst>
          </a:prstGeom>
          <a:solidFill>
            <a:srgbClr val="E0B66B"/>
          </a:solidFill>
          <a:ln w="12700">
            <a:solidFill>
              <a:srgbClr val="E0B6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42773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41248" y="3218688"/>
            <a:ext cx="384048" cy="310896"/>
          </a:xfrm>
          <a:prstGeom prst="roundRect">
            <a:avLst>
              <a:gd name="adj" fmla="val 35294"/>
            </a:avLst>
          </a:prstGeom>
          <a:solidFill>
            <a:srgbClr val="E0B66B"/>
          </a:solidFill>
          <a:ln w="12700">
            <a:solidFill>
              <a:srgbClr val="E0B6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25069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41248" y="4041648"/>
            <a:ext cx="384048" cy="310896"/>
          </a:xfrm>
          <a:prstGeom prst="roundRect">
            <a:avLst>
              <a:gd name="adj" fmla="val 35294"/>
            </a:avLst>
          </a:prstGeom>
          <a:solidFill>
            <a:srgbClr val="E0B66B"/>
          </a:solidFill>
          <a:ln w="12700">
            <a:solidFill>
              <a:srgbClr val="E0B6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40736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4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325880" y="15819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Retrieval beats passive review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25880" y="18105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334155"/>
                </a:solidFill>
              </a:rPr>
              <a:t>Ask questions before giving answers. Make the learner pull the concept out, not just stare at it.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1325880" y="240487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Distributed review wins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25880" y="26334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334155"/>
                </a:solidFill>
              </a:rPr>
              <a:t>Design the deck for first pass, second pass, and later recall. One reading is a handshake, not a marriage.</a:t>
            </a:r>
            <a:endParaRPr lang="en-US" sz="1340" dirty="0"/>
          </a:p>
        </p:txBody>
      </p:sp>
      <p:sp>
        <p:nvSpPr>
          <p:cNvPr id="18" name="Text 16"/>
          <p:cNvSpPr/>
          <p:nvPr/>
        </p:nvSpPr>
        <p:spPr>
          <a:xfrm>
            <a:off x="1325880" y="322783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Signal what matters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25880" y="34564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334155"/>
                </a:solidFill>
              </a:rPr>
              <a:t>Use headings, arrows, bold pivots, color contrast, and “if you remember one thing” boxes to guide attention.</a:t>
            </a:r>
            <a:endParaRPr lang="en-US" sz="1340" dirty="0"/>
          </a:p>
        </p:txBody>
      </p:sp>
      <p:sp>
        <p:nvSpPr>
          <p:cNvPr id="20" name="Text 18"/>
          <p:cNvSpPr/>
          <p:nvPr/>
        </p:nvSpPr>
        <p:spPr>
          <a:xfrm>
            <a:off x="1325880" y="405079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Make it productively difficult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325880" y="42793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334155"/>
                </a:solidFill>
              </a:rPr>
              <a:t>Interleave comparisons, force localization, and include one-step-harder clinical applications.</a:t>
            </a:r>
            <a:endParaRPr lang="en-US" sz="1340" dirty="0"/>
          </a:p>
        </p:txBody>
      </p:sp>
      <p:sp>
        <p:nvSpPr>
          <p:cNvPr id="22" name="Text 20"/>
          <p:cNvSpPr/>
          <p:nvPr/>
        </p:nvSpPr>
        <p:spPr>
          <a:xfrm>
            <a:off x="6629400" y="1627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Retention formula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766560" y="2057400"/>
            <a:ext cx="841248" cy="530352"/>
          </a:xfrm>
          <a:prstGeom prst="roundRect">
            <a:avLst>
              <a:gd name="adj" fmla="val 20690"/>
            </a:avLst>
          </a:prstGeom>
          <a:solidFill>
            <a:srgbClr val="E0B66B"/>
          </a:solidFill>
          <a:ln w="12700">
            <a:solidFill>
              <a:srgbClr val="E0B6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2231136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Cue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26096" y="2194560"/>
            <a:ext cx="73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</a:rPr>
              <a:t>+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708392" y="2057400"/>
            <a:ext cx="841248" cy="530352"/>
          </a:xfrm>
          <a:prstGeom prst="roundRect">
            <a:avLst>
              <a:gd name="adj" fmla="val 20690"/>
            </a:avLst>
          </a:prstGeom>
          <a:solidFill>
            <a:srgbClr val="C9DBF8"/>
          </a:solidFill>
          <a:ln w="12700">
            <a:solidFill>
              <a:srgbClr val="C9DB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08392" y="2231136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Structure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67928" y="2194560"/>
            <a:ext cx="73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</a:rPr>
              <a:t>+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650224" y="2057400"/>
            <a:ext cx="841248" cy="530352"/>
          </a:xfrm>
          <a:prstGeom prst="roundRect">
            <a:avLst>
              <a:gd name="adj" fmla="val 20690"/>
            </a:avLst>
          </a:prstGeom>
          <a:solidFill>
            <a:srgbClr val="B8D8B8"/>
          </a:solidFill>
          <a:ln w="12700">
            <a:solidFill>
              <a:srgbClr val="B8D8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50224" y="2231136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Retrieve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509760" y="2194560"/>
            <a:ext cx="73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</a:rPr>
              <a:t>+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592056" y="2057400"/>
            <a:ext cx="841248" cy="530352"/>
          </a:xfrm>
          <a:prstGeom prst="roundRect">
            <a:avLst>
              <a:gd name="adj" fmla="val 20690"/>
            </a:avLst>
          </a:prstGeom>
          <a:solidFill>
            <a:srgbClr val="F1C9C9"/>
          </a:solidFill>
          <a:ln w="12700">
            <a:solidFill>
              <a:srgbClr val="F1C9C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92056" y="2231136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Space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451592" y="2194560"/>
            <a:ext cx="73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</a:rPr>
              <a:t>+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533888" y="2057400"/>
            <a:ext cx="841248" cy="530352"/>
          </a:xfrm>
          <a:prstGeom prst="roundRect">
            <a:avLst>
              <a:gd name="adj" fmla="val 20690"/>
            </a:avLst>
          </a:prstGeom>
          <a:solidFill>
            <a:srgbClr val="D9CEF8"/>
          </a:solidFill>
          <a:ln w="12700">
            <a:solidFill>
              <a:srgbClr val="D9CE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33888" y="2231136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Apply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629400" y="28346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What this means for your deck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6656832" y="3154680"/>
            <a:ext cx="4572000" cy="21031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/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the big idea before details.</a:t>
            </a:r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each objective into a question and a contrast.</a:t>
            </a:r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one clean labeled visual per major concept.</a:t>
            </a:r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with retrieval, not a summary funeral.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6656832" y="5413248"/>
            <a:ext cx="4572000" cy="493776"/>
          </a:xfrm>
          <a:prstGeom prst="roundRect">
            <a:avLst>
              <a:gd name="adj" fmla="val 14815"/>
            </a:avLst>
          </a:prstGeom>
          <a:solidFill>
            <a:srgbClr val="EEF6FF"/>
          </a:solidFill>
          <a:ln w="12700">
            <a:solidFill>
              <a:srgbClr val="BCD2F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39712" y="556869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55F"/>
                </a:solidFill>
              </a:rPr>
              <a:t>Best simple rule: explain, contrast, localize, then test.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96A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9377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full lecture-overview system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8E2"/>
                </a:solidFill>
              </a:rPr>
              <a:t>From raw objectives to a deck that actually teaches you something.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10972800" cy="4389120"/>
          </a:xfrm>
          <a:prstGeom prst="roundRect">
            <a:avLst>
              <a:gd name="adj" fmla="val 3333"/>
            </a:avLst>
          </a:prstGeom>
          <a:solidFill>
            <a:srgbClr val="F7F4EE"/>
          </a:solidFill>
          <a:ln w="12700">
            <a:solidFill>
              <a:srgbClr val="D9DDE7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1664208" cy="493776"/>
          </a:xfrm>
          <a:prstGeom prst="roundRect">
            <a:avLst>
              <a:gd name="adj" fmla="val 22222"/>
            </a:avLst>
          </a:prstGeom>
          <a:solidFill>
            <a:srgbClr val="E0B66B"/>
          </a:solidFill>
          <a:ln w="12700">
            <a:solidFill>
              <a:srgbClr val="E0B6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84832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1. Input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05256" y="2633472"/>
            <a:ext cx="1591056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Lecture title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Objectives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Module / week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Cases / images if available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926080" y="1920240"/>
            <a:ext cx="1664208" cy="493776"/>
          </a:xfrm>
          <a:prstGeom prst="roundRect">
            <a:avLst>
              <a:gd name="adj" fmla="val 22222"/>
            </a:avLst>
          </a:prstGeom>
          <a:solidFill>
            <a:srgbClr val="DCE7F7"/>
          </a:solidFill>
          <a:ln w="12700">
            <a:solidFill>
              <a:srgbClr val="A8C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2084832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2. Orient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962656" y="2633472"/>
            <a:ext cx="1591056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Write the big idea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Name the 3–5 pillars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State why this lecture matters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983480" y="1920240"/>
            <a:ext cx="1664208" cy="493776"/>
          </a:xfrm>
          <a:prstGeom prst="roundRect">
            <a:avLst>
              <a:gd name="adj" fmla="val 22222"/>
            </a:avLst>
          </a:prstGeom>
          <a:solidFill>
            <a:srgbClr val="DCE7F7"/>
          </a:solidFill>
          <a:ln w="12700">
            <a:solidFill>
              <a:srgbClr val="A8C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2084832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3. Build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0056" y="2633472"/>
            <a:ext cx="1591056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Expand each objective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Mind map the logic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Add “if you remember one thing”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040880" y="1920240"/>
            <a:ext cx="1664208" cy="493776"/>
          </a:xfrm>
          <a:prstGeom prst="roundRect">
            <a:avLst>
              <a:gd name="adj" fmla="val 22222"/>
            </a:avLst>
          </a:prstGeom>
          <a:solidFill>
            <a:srgbClr val="DCE7F7"/>
          </a:solidFill>
          <a:ln w="12700">
            <a:solidFill>
              <a:srgbClr val="A8C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2084832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4. Integrate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077456" y="2633472"/>
            <a:ext cx="1591056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Link to prior lectures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Add clinical anchor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Add imaging / lesion / drug / histology tie-in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098280" y="1920240"/>
            <a:ext cx="1664208" cy="493776"/>
          </a:xfrm>
          <a:prstGeom prst="roundRect">
            <a:avLst>
              <a:gd name="adj" fmla="val 22222"/>
            </a:avLst>
          </a:prstGeom>
          <a:solidFill>
            <a:srgbClr val="DCE7F7"/>
          </a:solidFill>
          <a:ln w="12700">
            <a:solidFill>
              <a:srgbClr val="A8C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2084832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5. Retrieve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34856" y="2633472"/>
            <a:ext cx="1591056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5–10 MCQs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Short answer prompts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Board-style compare / localize steps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97280" y="5074920"/>
            <a:ext cx="10012680" cy="4572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0160" y="5239512"/>
            <a:ext cx="9646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Objective → mechanism → clinical pattern → localization → retrieval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96A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9377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Language architecture that improves recall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8E2"/>
                </a:solidFill>
              </a:rPr>
              <a:t>Use words like hooks, not wallpaper.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389888"/>
            <a:ext cx="5394960" cy="5074920"/>
          </a:xfrm>
          <a:prstGeom prst="roundRect">
            <a:avLst>
              <a:gd name="adj" fmla="val 2883"/>
            </a:avLst>
          </a:prstGeom>
          <a:solidFill>
            <a:srgbClr val="F7F4EE"/>
          </a:solidFill>
          <a:ln w="12700">
            <a:solidFill>
              <a:srgbClr val="D9DDE7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63640" y="1389888"/>
            <a:ext cx="5257800" cy="5074920"/>
          </a:xfrm>
          <a:prstGeom prst="roundRect">
            <a:avLst>
              <a:gd name="adj" fmla="val 2883"/>
            </a:avLst>
          </a:prstGeom>
          <a:solidFill>
            <a:srgbClr val="F0F3F9"/>
          </a:solidFill>
          <a:ln w="12700">
            <a:solidFill>
              <a:srgbClr val="D9DDE7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32688" y="166420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Write in these patterns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32688" y="2011680"/>
            <a:ext cx="4663440" cy="25603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/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Question-first headers: “What is the lesion?” “Why does this cause ataxia?”</a:t>
            </a:r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 chains: stimulus → structure → pathway → deficit → clinical sign.</a:t>
            </a:r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Contrast phrases: “not X, but Y”; “central vs peripheral”; “UMN vs LMN.”</a:t>
            </a:r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Compression lines: “If you remember one thing…” or “Board giveaway.”</a:t>
            </a:r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 pivots in bold: the one word that changes localization.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32688" y="4892040"/>
            <a:ext cx="4617720" cy="1097280"/>
          </a:xfrm>
          <a:prstGeom prst="roundRect">
            <a:avLst>
              <a:gd name="adj" fmla="val 8333"/>
            </a:avLst>
          </a:prstGeom>
          <a:solidFill>
            <a:srgbClr val="FFF7E8"/>
          </a:solidFill>
          <a:ln w="12700">
            <a:solidFill>
              <a:srgbClr val="E5C2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513892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6B4E16"/>
                </a:solidFill>
              </a:rPr>
              <a:t>Best sentence style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6B4E16"/>
                </a:solidFill>
              </a:rPr>
              <a:t>Short line → mechanism line → clinical consequence line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537960" y="166420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Avoid these memory killers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537960" y="2011680"/>
            <a:ext cx="4572000" cy="23774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/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Wall-of-text paragraphs with no cueing.</a:t>
            </a:r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Objectives restated without translation into plain meaning.</a:t>
            </a:r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Lists with no hierarchy, contrast, or sequence.</a:t>
            </a:r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Visuals dumped in without labels or arrows.</a:t>
            </a:r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Definitions without “why it matters clinically.”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37960" y="4617720"/>
            <a:ext cx="3108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Micro-template for each objective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4892040"/>
            <a:ext cx="4480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What it means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Why it matters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Mechanism / pathway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Most testable contrast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Classic clinical anchor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If you remember one thing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96A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9377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Blueprint for the 5–15 content slides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8E2"/>
                </a:solidFill>
              </a:rPr>
              <a:t>This is the sequence Claude / Canva should generate before the MCQ section.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353312"/>
            <a:ext cx="10972800" cy="5303520"/>
          </a:xfrm>
          <a:prstGeom prst="roundRect">
            <a:avLst>
              <a:gd name="adj" fmla="val 2759"/>
            </a:avLst>
          </a:prstGeom>
          <a:solidFill>
            <a:srgbClr val="F7F4EE"/>
          </a:solidFill>
          <a:ln w="12700">
            <a:solidFill>
              <a:srgbClr val="D9DDE7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00784"/>
            <a:ext cx="384048" cy="347472"/>
          </a:xfrm>
          <a:prstGeom prst="roundRect">
            <a:avLst>
              <a:gd name="adj" fmla="val 26316"/>
            </a:avLst>
          </a:prstGeom>
          <a:solidFill>
            <a:srgbClr val="E0B66B"/>
          </a:solidFill>
          <a:ln w="12700">
            <a:solidFill>
              <a:srgbClr val="E0B6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01368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426464" y="1682496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Title + promise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26464" y="1920240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</a:rPr>
              <a:t>Name the lecture, module, and what the learner should walk away able to explain.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914400" y="2633472"/>
            <a:ext cx="384048" cy="347472"/>
          </a:xfrm>
          <a:prstGeom prst="roundRect">
            <a:avLst>
              <a:gd name="adj" fmla="val 26316"/>
            </a:avLst>
          </a:prstGeom>
          <a:solidFill>
            <a:srgbClr val="DCE7F7"/>
          </a:solidFill>
          <a:ln w="12700">
            <a:solidFill>
              <a:srgbClr val="A8C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734056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2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426464" y="2615184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Big idea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26464" y="2852928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</a:rPr>
              <a:t>One-slide conceptual story in plain language.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914400" y="3566160"/>
            <a:ext cx="384048" cy="347472"/>
          </a:xfrm>
          <a:prstGeom prst="roundRect">
            <a:avLst>
              <a:gd name="adj" fmla="val 26316"/>
            </a:avLst>
          </a:prstGeom>
          <a:solidFill>
            <a:srgbClr val="DCE7F7"/>
          </a:solidFill>
          <a:ln w="12700">
            <a:solidFill>
              <a:srgbClr val="A8C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666744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426464" y="3547872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Mind map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26464" y="3785616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</a:rPr>
              <a:t>The system map: inputs, outputs, zones, branches, or causal tree.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914400" y="4498848"/>
            <a:ext cx="384048" cy="347472"/>
          </a:xfrm>
          <a:prstGeom prst="roundRect">
            <a:avLst>
              <a:gd name="adj" fmla="val 26316"/>
            </a:avLst>
          </a:prstGeom>
          <a:solidFill>
            <a:srgbClr val="DCE7F7"/>
          </a:solidFill>
          <a:ln w="12700">
            <a:solidFill>
              <a:srgbClr val="A8C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599432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4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426464" y="448056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Objective 1 fleshed out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26464" y="4718304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</a:rPr>
              <a:t>Translate the objective into meaning, mechanism, and testable distinctions.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914400" y="5431536"/>
            <a:ext cx="384048" cy="347472"/>
          </a:xfrm>
          <a:prstGeom prst="roundRect">
            <a:avLst>
              <a:gd name="adj" fmla="val 26316"/>
            </a:avLst>
          </a:prstGeom>
          <a:solidFill>
            <a:srgbClr val="DCE7F7"/>
          </a:solidFill>
          <a:ln w="12700">
            <a:solidFill>
              <a:srgbClr val="A8C3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532120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5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426464" y="5413248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Objective 2 fleshed out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26464" y="5650992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</a:rPr>
              <a:t>Repeat. Add compare/contrast and one clinical consequence.</a:t>
            </a:r>
            <a:endParaRPr lang="en-US" sz="1280" dirty="0"/>
          </a:p>
        </p:txBody>
      </p:sp>
      <p:sp>
        <p:nvSpPr>
          <p:cNvPr id="25" name="Shape 23"/>
          <p:cNvSpPr/>
          <p:nvPr/>
        </p:nvSpPr>
        <p:spPr>
          <a:xfrm>
            <a:off x="6172200" y="1700784"/>
            <a:ext cx="384048" cy="347472"/>
          </a:xfrm>
          <a:prstGeom prst="roundRect">
            <a:avLst>
              <a:gd name="adj" fmla="val 26316"/>
            </a:avLst>
          </a:prstGeom>
          <a:solidFill>
            <a:srgbClr val="E0B66B"/>
          </a:solidFill>
          <a:ln w="12700">
            <a:solidFill>
              <a:srgbClr val="E0B6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1801368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6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84264" y="1682496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Integration slide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84264" y="1920240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</a:rPr>
              <a:t>Tie to prior lectures, pathways, pharmacology, pathology, or imaging.</a:t>
            </a:r>
            <a:endParaRPr lang="en-US" sz="1280" dirty="0"/>
          </a:p>
        </p:txBody>
      </p:sp>
      <p:sp>
        <p:nvSpPr>
          <p:cNvPr id="29" name="Shape 27"/>
          <p:cNvSpPr/>
          <p:nvPr/>
        </p:nvSpPr>
        <p:spPr>
          <a:xfrm>
            <a:off x="6172200" y="2633472"/>
            <a:ext cx="384048" cy="347472"/>
          </a:xfrm>
          <a:prstGeom prst="roundRect">
            <a:avLst>
              <a:gd name="adj" fmla="val 26316"/>
            </a:avLst>
          </a:prstGeom>
          <a:solidFill>
            <a:srgbClr val="DCE7F7"/>
          </a:solidFill>
          <a:ln w="12700">
            <a:solidFill>
              <a:srgbClr val="A8C3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2734056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7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684264" y="2615184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Clinical anchor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84264" y="2852928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</a:rPr>
              <a:t>Classic case, lesion localization, or board-style vignette.</a:t>
            </a:r>
            <a:endParaRPr lang="en-US" sz="1280" dirty="0"/>
          </a:p>
        </p:txBody>
      </p:sp>
      <p:sp>
        <p:nvSpPr>
          <p:cNvPr id="33" name="Shape 31"/>
          <p:cNvSpPr/>
          <p:nvPr/>
        </p:nvSpPr>
        <p:spPr>
          <a:xfrm>
            <a:off x="6172200" y="3566160"/>
            <a:ext cx="384048" cy="347472"/>
          </a:xfrm>
          <a:prstGeom prst="roundRect">
            <a:avLst>
              <a:gd name="adj" fmla="val 26316"/>
            </a:avLst>
          </a:prstGeom>
          <a:solidFill>
            <a:srgbClr val="DCE7F7"/>
          </a:solidFill>
          <a:ln w="12700">
            <a:solidFill>
              <a:srgbClr val="A8C3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3666744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8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684264" y="3547872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Visual one-pager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684264" y="3785616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</a:rPr>
              <a:t>One image-rich slide with labels, arrows, and high-yield notes.</a:t>
            </a:r>
            <a:endParaRPr lang="en-US" sz="1280" dirty="0"/>
          </a:p>
        </p:txBody>
      </p:sp>
      <p:sp>
        <p:nvSpPr>
          <p:cNvPr id="37" name="Shape 35"/>
          <p:cNvSpPr/>
          <p:nvPr/>
        </p:nvSpPr>
        <p:spPr>
          <a:xfrm>
            <a:off x="6172200" y="4498848"/>
            <a:ext cx="384048" cy="347472"/>
          </a:xfrm>
          <a:prstGeom prst="roundRect">
            <a:avLst>
              <a:gd name="adj" fmla="val 26316"/>
            </a:avLst>
          </a:prstGeom>
          <a:solidFill>
            <a:srgbClr val="DCE7F7"/>
          </a:solidFill>
          <a:ln w="12700">
            <a:solidFill>
              <a:srgbClr val="A8C3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4599432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9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684264" y="448056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If you remember anything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84264" y="4718304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</a:rPr>
              <a:t>Five non-negotiables; the compressed takeaway.</a:t>
            </a:r>
            <a:endParaRPr lang="en-US" sz="1280" dirty="0"/>
          </a:p>
        </p:txBody>
      </p:sp>
      <p:sp>
        <p:nvSpPr>
          <p:cNvPr id="41" name="Shape 39"/>
          <p:cNvSpPr/>
          <p:nvPr/>
        </p:nvSpPr>
        <p:spPr>
          <a:xfrm>
            <a:off x="6172200" y="5431536"/>
            <a:ext cx="384048" cy="347472"/>
          </a:xfrm>
          <a:prstGeom prst="roundRect">
            <a:avLst>
              <a:gd name="adj" fmla="val 26316"/>
            </a:avLst>
          </a:prstGeom>
          <a:solidFill>
            <a:srgbClr val="DCE7F7"/>
          </a:solidFill>
          <a:ln w="12700">
            <a:solidFill>
              <a:srgbClr val="A8C3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72200" y="5532120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10+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684264" y="5413248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Optional extras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684264" y="5650992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334155"/>
                </a:solidFill>
              </a:rPr>
              <a:t>Imaging, histology, stepwise lesion logic, differential diagnosis, therapy map.</a:t>
            </a:r>
            <a:endParaRPr lang="en-US" sz="1280" dirty="0"/>
          </a:p>
        </p:txBody>
      </p:sp>
      <p:sp>
        <p:nvSpPr>
          <p:cNvPr id="45" name="Shape 43"/>
          <p:cNvSpPr/>
          <p:nvPr/>
        </p:nvSpPr>
        <p:spPr>
          <a:xfrm>
            <a:off x="5760720" y="1600200"/>
            <a:ext cx="0" cy="4526280"/>
          </a:xfrm>
          <a:prstGeom prst="line">
            <a:avLst/>
          </a:prstGeom>
          <a:noFill/>
          <a:ln w="12700">
            <a:solidFill>
              <a:srgbClr val="D8DDE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96A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9377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 asset map: what to include and how to label it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8E2"/>
                </a:solidFill>
              </a:rPr>
              <a:t>Every major lecture should request visuals with purpose, not decoration.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389888"/>
            <a:ext cx="3520440" cy="4983480"/>
          </a:xfrm>
          <a:prstGeom prst="roundRect">
            <a:avLst>
              <a:gd name="adj" fmla="val 4156"/>
            </a:avLst>
          </a:prstGeom>
          <a:solidFill>
            <a:srgbClr val="F7F4EE"/>
          </a:solidFill>
          <a:ln w="12700">
            <a:solidFill>
              <a:srgbClr val="D9DDE7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416552" y="1389888"/>
            <a:ext cx="3474720" cy="4983480"/>
          </a:xfrm>
          <a:prstGeom prst="roundRect">
            <a:avLst>
              <a:gd name="adj" fmla="val 4211"/>
            </a:avLst>
          </a:prstGeom>
          <a:solidFill>
            <a:srgbClr val="F0F3F9"/>
          </a:solidFill>
          <a:ln w="12700">
            <a:solidFill>
              <a:srgbClr val="D9DDE7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138160" y="1389888"/>
            <a:ext cx="3154680" cy="4983480"/>
          </a:xfrm>
          <a:prstGeom prst="roundRect">
            <a:avLst>
              <a:gd name="adj" fmla="val 4638"/>
            </a:avLst>
          </a:prstGeom>
          <a:solidFill>
            <a:srgbClr val="FBF8F1"/>
          </a:solidFill>
          <a:ln w="12700">
            <a:solidFill>
              <a:srgbClr val="D9DDE7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6642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Must-have visual types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2834640" cy="20574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/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Labeled core schematic</a:t>
            </a:r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one-pager</a:t>
            </a:r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Imaging slide with arrows</a:t>
            </a:r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Compare/contrast table</a:t>
            </a:r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Lesion or pathway map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43891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Labeling rule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46634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334155"/>
                </a:solidFill>
              </a:rPr>
              <a:t>Name the structure, the side, the direction of information, and the clinical meaning.</a:t>
            </a:r>
            <a:endParaRPr lang="en-US" sz="1340" dirty="0"/>
          </a:p>
        </p:txBody>
      </p:sp>
      <p:sp>
        <p:nvSpPr>
          <p:cNvPr id="11" name="Text 9"/>
          <p:cNvSpPr/>
          <p:nvPr/>
        </p:nvSpPr>
        <p:spPr>
          <a:xfrm>
            <a:off x="4663440" y="16642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Prompt snippets for visuals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1975104"/>
            <a:ext cx="2926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334155"/>
                </a:solidFill>
              </a:rPr>
              <a:t>“Insert a labeled sagittal schematic of [structure], color-code inputs vs outputs, and place a one-line clinical note beside each branch.”</a:t>
            </a:r>
            <a:endParaRPr lang="en-US" sz="1310" dirty="0"/>
          </a:p>
          <a:p>
            <a:pPr indent="0" marL="0">
              <a:buNone/>
            </a:pP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34155"/>
                </a:solidFill>
              </a:rPr>
              <a:t>“Insert MRI/CT with arrows pointing to the lesion, then add a 4-line localization explanation.”</a:t>
            </a:r>
            <a:endParaRPr lang="en-US" sz="1310" dirty="0"/>
          </a:p>
          <a:p>
            <a:pPr indent="0" marL="0">
              <a:buNone/>
            </a:pP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34155"/>
                </a:solidFill>
              </a:rPr>
              <a:t>“Insert a one-page clinical card: presentation, mechanism, diagnosis, giveaway, treatment.”</a:t>
            </a:r>
            <a:endParaRPr lang="en-US" sz="1310" dirty="0"/>
          </a:p>
        </p:txBody>
      </p:sp>
      <p:sp>
        <p:nvSpPr>
          <p:cNvPr id="13" name="Text 11"/>
          <p:cNvSpPr/>
          <p:nvPr/>
        </p:nvSpPr>
        <p:spPr>
          <a:xfrm>
            <a:off x="8412480" y="16642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Layout suggestion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531352" y="214884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BFC8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31352" y="26974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75569"/>
                </a:solidFill>
              </a:rPr>
              <a:t>Main labeled schematic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475569"/>
                </a:solidFill>
              </a:rPr>
              <a:t>or imaging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531352" y="384048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FC8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31352" y="43891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75569"/>
                </a:solidFill>
              </a:rPr>
              <a:t>Side notes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475569"/>
                </a:solidFill>
              </a:rPr>
              <a:t>arrow callouts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475569"/>
                </a:solidFill>
              </a:rPr>
              <a:t>board pearls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96A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9377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Medical Brain Builder prompt | Core instruction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8E2"/>
                </a:solidFill>
              </a:rPr>
              <a:t>Use this as the reusable command layer. The full copyable prompt is in the companion markdown file.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353312"/>
            <a:ext cx="10972800" cy="5440680"/>
          </a:xfrm>
          <a:prstGeom prst="roundRect">
            <a:avLst>
              <a:gd name="adj" fmla="val 2353"/>
            </a:avLst>
          </a:prstGeom>
          <a:solidFill>
            <a:srgbClr val="0F172A"/>
          </a:solidFill>
          <a:ln w="12700">
            <a:solidFill>
              <a:srgbClr val="2E3A57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00784"/>
            <a:ext cx="10378440" cy="4114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 as a 200-IQ integrative medical professor and learning architect. I will give you a lecture title, module, and learning objectives. Build a high-yield lecture overview system that helps me before class, after class, and during later review.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 each objective into plain meaning, mechanism, clinical relevance, and testable contrasts. Organize the material so it is easy to retain: question-first headings, causal chains, compare/contrast logic, bold diagnostic pivots, and a compressed “if you remember one thing” line for each section.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5–15 content slides oriented around the objectives. The deck must move from big idea → mind map → objective expansion → clinical integration → high-yield compression. Include places for labeled schematics, images, MRI/CT, lesion maps, histology, or one-page clinical cards whenever they would improve understanding.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6080760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B2"/>
                </a:solidFill>
              </a:rPr>
              <a:t>Companion file includes the full input spec, output schema, and quality-control checklist.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96A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9377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Medical Brain Builder prompt | Output spec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8E2"/>
                </a:solidFill>
              </a:rPr>
              <a:t>What the model should return every time.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353312"/>
            <a:ext cx="5394960" cy="5321808"/>
          </a:xfrm>
          <a:prstGeom prst="roundRect">
            <a:avLst>
              <a:gd name="adj" fmla="val 2749"/>
            </a:avLst>
          </a:prstGeom>
          <a:solidFill>
            <a:srgbClr val="F7F4EE"/>
          </a:solidFill>
          <a:ln w="12700">
            <a:solidFill>
              <a:srgbClr val="D9DDE7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91072" y="1353312"/>
            <a:ext cx="5340096" cy="5321808"/>
          </a:xfrm>
          <a:prstGeom prst="roundRect">
            <a:avLst>
              <a:gd name="adj" fmla="val 2749"/>
            </a:avLst>
          </a:prstGeom>
          <a:solidFill>
            <a:srgbClr val="F0F3F9"/>
          </a:solidFill>
          <a:ln w="12700">
            <a:solidFill>
              <a:srgbClr val="D9DDE7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459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Required sections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993392"/>
            <a:ext cx="4480560" cy="2743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/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idea slide</a:t>
            </a:r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First-pass mind map</a:t>
            </a:r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Objective-by-objective expansion</a:t>
            </a:r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/ imaging / pathology integration</a:t>
            </a:r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If-you-remember-anything slide</a:t>
            </a:r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5–10 MCQs with answer and short explanation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51206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Quality rules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376672"/>
            <a:ext cx="4480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dirty="0">
                <a:solidFill>
                  <a:srgbClr val="334155"/>
                </a:solidFill>
              </a:rPr>
              <a:t>No fluff. No orphan facts. Every fact must be attached to mechanism, localization, or clinical use.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6537960" y="16459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Formatting rules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7960" y="1993392"/>
            <a:ext cx="4526280" cy="242316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/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3–5 big ideas per slide, not 12.</a:t>
            </a:r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labeled visuals or explicit placeholder prompts.</a:t>
            </a:r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slide titles declarative or diagnostic.</a:t>
            </a:r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 the most testable distinction in a highlighted callout.</a:t>
            </a:r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the content deck before the question section.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10528" y="4864608"/>
            <a:ext cx="4526280" cy="1078992"/>
          </a:xfrm>
          <a:prstGeom prst="roundRect">
            <a:avLst>
              <a:gd name="adj" fmla="val 6780"/>
            </a:avLst>
          </a:prstGeom>
          <a:solidFill>
            <a:srgbClr val="FFF7E8"/>
          </a:solidFill>
          <a:ln w="12700">
            <a:solidFill>
              <a:srgbClr val="E5C2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0528" y="5184648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B4E16"/>
                </a:solidFill>
              </a:rPr>
              <a:t>Slide count rule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6B4E16"/>
                </a:solidFill>
              </a:rPr>
              <a:t>5–15 content slides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6B4E16"/>
                </a:solidFill>
              </a:rPr>
              <a:t>then 5–10 MCQ slides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96A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9377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one-lecture build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8E2"/>
                </a:solidFill>
              </a:rPr>
              <a:t>How the system would compress a small cerebellum lecture into a teachable pre-read.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371600"/>
            <a:ext cx="10972800" cy="5349240"/>
          </a:xfrm>
          <a:prstGeom prst="roundRect">
            <a:avLst>
              <a:gd name="adj" fmla="val 2735"/>
            </a:avLst>
          </a:prstGeom>
          <a:solidFill>
            <a:srgbClr val="F7F4EE"/>
          </a:solidFill>
          <a:ln w="12700">
            <a:solidFill>
              <a:srgbClr val="D9DDE7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55648"/>
            <a:ext cx="3154680" cy="4297680"/>
          </a:xfrm>
          <a:prstGeom prst="roundRect">
            <a:avLst>
              <a:gd name="adj" fmla="val 2899"/>
            </a:avLst>
          </a:prstGeom>
          <a:solidFill>
            <a:srgbClr val="EEF6FF"/>
          </a:solidFill>
          <a:ln w="12700">
            <a:solidFill>
              <a:srgbClr val="BCD2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9933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Slide skeleton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78992" y="2331720"/>
            <a:ext cx="2743200" cy="32918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/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idea: cerebellum = timing + coordination editor</a:t>
            </a:r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 map: mossy fibers, climbing fibers, Purkinje cells, deep nuclei</a:t>
            </a:r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 1: cortical layers and synaptic logic</a:t>
            </a:r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 2: zones → nuclei → function</a:t>
            </a:r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link: vestibular schwannoma / PICA / AICA / medulloblastoma</a:t>
            </a:r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Compression slide: 5 must-know rules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70832" y="1755648"/>
            <a:ext cx="2926080" cy="42976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BFC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70832" y="2743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Insert labeled schematic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Cerebellar cortex layers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Purkinje output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Deep nuclei map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35240" y="1755648"/>
            <a:ext cx="29260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FC8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23957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Insert imaging / lesion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arrow callouts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35240" y="3840480"/>
            <a:ext cx="2926080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BFC8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35240" y="4572000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Insert one-page clinical card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Presentation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Mechanism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Localization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Board giveaway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96A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9377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MCQ 1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8E2"/>
                </a:solidFill>
              </a:rPr>
              <a:t>Commit first. Then check the answer box.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13232" y="1325880"/>
            <a:ext cx="10972800" cy="2880360"/>
          </a:xfrm>
          <a:prstGeom prst="roundRect">
            <a:avLst>
              <a:gd name="adj" fmla="val 5079"/>
            </a:avLst>
          </a:prstGeom>
          <a:solidFill>
            <a:srgbClr val="F7F4EE"/>
          </a:solidFill>
          <a:ln w="12700">
            <a:solidFill>
              <a:srgbClr val="D9DDE7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4462272"/>
            <a:ext cx="10972800" cy="1755648"/>
          </a:xfrm>
          <a:prstGeom prst="roundRect">
            <a:avLst>
              <a:gd name="adj" fmla="val 8333"/>
            </a:avLst>
          </a:prstGeom>
          <a:solidFill>
            <a:srgbClr val="FBF8F1"/>
          </a:solidFill>
          <a:ln w="12700">
            <a:solidFill>
              <a:srgbClr val="D9DDE7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41832" y="1664208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Which opening slide gives the strongest first-pass orientation for a new lecture?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87552" y="2331720"/>
            <a:ext cx="566928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A. Definitions list</a:t>
            </a:r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B. Full transcript of the objectives</a:t>
            </a:r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C. Big idea + what the lecture is really about</a:t>
            </a:r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D. Ten board pearls with no context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9264" y="468172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4E16"/>
                </a:solidFill>
              </a:rPr>
              <a:t>Answer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011680" y="46634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4E16"/>
                </a:solidFill>
              </a:rPr>
              <a:t>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9264" y="5029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6B4E16"/>
                </a:solidFill>
              </a:rPr>
              <a:t>A learner needs the organizing story first. Details stick better when they already know the lecture’s purpose and internal logic.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96A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9377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MCQ 2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8E2"/>
                </a:solidFill>
              </a:rPr>
              <a:t>Commit first. Then check the answer box.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13232" y="1325880"/>
            <a:ext cx="10972800" cy="2880360"/>
          </a:xfrm>
          <a:prstGeom prst="roundRect">
            <a:avLst>
              <a:gd name="adj" fmla="val 5079"/>
            </a:avLst>
          </a:prstGeom>
          <a:solidFill>
            <a:srgbClr val="F7F4EE"/>
          </a:solidFill>
          <a:ln w="12700">
            <a:solidFill>
              <a:srgbClr val="D9DDE7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4462272"/>
            <a:ext cx="10972800" cy="1755648"/>
          </a:xfrm>
          <a:prstGeom prst="roundRect">
            <a:avLst>
              <a:gd name="adj" fmla="val 8333"/>
            </a:avLst>
          </a:prstGeom>
          <a:solidFill>
            <a:srgbClr val="FBF8F1"/>
          </a:solidFill>
          <a:ln w="12700">
            <a:solidFill>
              <a:srgbClr val="D9DDE7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41832" y="1664208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Which language pattern best supports durable recall in this system?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87552" y="2331720"/>
            <a:ext cx="566928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A. Long paragraph summaries</a:t>
            </a:r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B. Causal chain plus compare/contrast phrasing</a:t>
            </a:r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C. Pure memorization lists with no headings</a:t>
            </a:r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D. Unlabeled images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9264" y="468172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4E16"/>
                </a:solidFill>
              </a:rPr>
              <a:t>Answer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011680" y="46634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4E16"/>
                </a:solidFill>
              </a:rPr>
              <a:t>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9264" y="5029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6B4E16"/>
                </a:solidFill>
              </a:rPr>
              <a:t>Causal chains and contrasts create retrieval paths. They tell you what leads to what and how similar ideas differ.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96A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9377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MCQ 3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8E2"/>
                </a:solidFill>
              </a:rPr>
              <a:t>Commit first. Then check the answer box.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13232" y="1325880"/>
            <a:ext cx="10972800" cy="2880360"/>
          </a:xfrm>
          <a:prstGeom prst="roundRect">
            <a:avLst>
              <a:gd name="adj" fmla="val 5079"/>
            </a:avLst>
          </a:prstGeom>
          <a:solidFill>
            <a:srgbClr val="F7F4EE"/>
          </a:solidFill>
          <a:ln w="12700">
            <a:solidFill>
              <a:srgbClr val="D9DDE7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4462272"/>
            <a:ext cx="10972800" cy="1755648"/>
          </a:xfrm>
          <a:prstGeom prst="roundRect">
            <a:avLst>
              <a:gd name="adj" fmla="val 8333"/>
            </a:avLst>
          </a:prstGeom>
          <a:solidFill>
            <a:srgbClr val="FBF8F1"/>
          </a:solidFill>
          <a:ln w="12700">
            <a:solidFill>
              <a:srgbClr val="D9DDE7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41832" y="1664208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According to the learning-science backbone used here, which two techniques received high-utility support?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87552" y="2331720"/>
            <a:ext cx="566928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A. Highlighting and rereading</a:t>
            </a:r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B. Practice testing and distributed practice</a:t>
            </a:r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C. Keyword mnemonic and imagery only</a:t>
            </a:r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D. Summarization and cramming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9264" y="468172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4E16"/>
                </a:solidFill>
              </a:rPr>
              <a:t>Answer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011680" y="46634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4E16"/>
                </a:solidFill>
              </a:rPr>
              <a:t>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9264" y="5029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6B4E16"/>
                </a:solidFill>
              </a:rPr>
              <a:t>Dunlosky and colleagues rated practice testing and distributed practice highest because they generalize broadly and improve performance across settings.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96A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9377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MCQ 4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8E2"/>
                </a:solidFill>
              </a:rPr>
              <a:t>Commit first. Then check the answer box.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13232" y="1325880"/>
            <a:ext cx="10972800" cy="2880360"/>
          </a:xfrm>
          <a:prstGeom prst="roundRect">
            <a:avLst>
              <a:gd name="adj" fmla="val 5079"/>
            </a:avLst>
          </a:prstGeom>
          <a:solidFill>
            <a:srgbClr val="F7F4EE"/>
          </a:solidFill>
          <a:ln w="12700">
            <a:solidFill>
              <a:srgbClr val="D9DDE7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4462272"/>
            <a:ext cx="10972800" cy="1755648"/>
          </a:xfrm>
          <a:prstGeom prst="roundRect">
            <a:avLst>
              <a:gd name="adj" fmla="val 8333"/>
            </a:avLst>
          </a:prstGeom>
          <a:solidFill>
            <a:srgbClr val="FBF8F1"/>
          </a:solidFill>
          <a:ln w="12700">
            <a:solidFill>
              <a:srgbClr val="D9DDE7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41832" y="1664208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If an objective is lesion localization, which visual asset is most useful?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87552" y="2331720"/>
            <a:ext cx="566928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A. Decorative abstract background</a:t>
            </a:r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B. Unlabeled gross image</a:t>
            </a:r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C. MRI/CT or pathway image with arrows, side labels, and deficit notes</a:t>
            </a:r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D. No visual at all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9264" y="468172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4E16"/>
                </a:solidFill>
              </a:rPr>
              <a:t>Answer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011680" y="46634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4E16"/>
                </a:solidFill>
              </a:rPr>
              <a:t>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9264" y="5029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6B4E16"/>
                </a:solidFill>
              </a:rPr>
              <a:t>Localization improves when the learner can see the site, the side, and the resulting deficits on one coordinated visual.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96A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9377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MCQ 5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8E2"/>
                </a:solidFill>
              </a:rPr>
              <a:t>Commit first. Then check the answer box.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13232" y="1325880"/>
            <a:ext cx="10972800" cy="2880360"/>
          </a:xfrm>
          <a:prstGeom prst="roundRect">
            <a:avLst>
              <a:gd name="adj" fmla="val 5079"/>
            </a:avLst>
          </a:prstGeom>
          <a:solidFill>
            <a:srgbClr val="F7F4EE"/>
          </a:solidFill>
          <a:ln w="12700">
            <a:solidFill>
              <a:srgbClr val="D9DDE7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4462272"/>
            <a:ext cx="10972800" cy="1755648"/>
          </a:xfrm>
          <a:prstGeom prst="roundRect">
            <a:avLst>
              <a:gd name="adj" fmla="val 8333"/>
            </a:avLst>
          </a:prstGeom>
          <a:solidFill>
            <a:srgbClr val="FBF8F1"/>
          </a:solidFill>
          <a:ln w="12700">
            <a:solidFill>
              <a:srgbClr val="D9DDE7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41832" y="1664208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What is the main role of the “If you remember one thing” line?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87552" y="2331720"/>
            <a:ext cx="566928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A. Add another fact to memorize</a:t>
            </a:r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B. Replace all detailed learning</a:t>
            </a:r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C. Compress the concept into a retrieval-ready cue</a:t>
            </a:r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D. Make the slide longer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9264" y="468172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4E16"/>
                </a:solidFill>
              </a:rPr>
              <a:t>Answer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011680" y="46634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4E16"/>
                </a:solidFill>
              </a:rPr>
              <a:t>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9264" y="5029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6B4E16"/>
                </a:solidFill>
              </a:rPr>
              <a:t>Compression lines give you a portable cue for later recall. They do not replace depth, but they preserve the core takeaway.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96A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9377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MCQ 6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8E2"/>
                </a:solidFill>
              </a:rPr>
              <a:t>Commit first. Then check the answer box.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13232" y="1325880"/>
            <a:ext cx="10972800" cy="2880360"/>
          </a:xfrm>
          <a:prstGeom prst="roundRect">
            <a:avLst>
              <a:gd name="adj" fmla="val 5079"/>
            </a:avLst>
          </a:prstGeom>
          <a:solidFill>
            <a:srgbClr val="F7F4EE"/>
          </a:solidFill>
          <a:ln w="12700">
            <a:solidFill>
              <a:srgbClr val="D9DDE7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4462272"/>
            <a:ext cx="10972800" cy="1755648"/>
          </a:xfrm>
          <a:prstGeom prst="roundRect">
            <a:avLst>
              <a:gd name="adj" fmla="val 8333"/>
            </a:avLst>
          </a:prstGeom>
          <a:solidFill>
            <a:srgbClr val="FBF8F1"/>
          </a:solidFill>
          <a:ln w="12700">
            <a:solidFill>
              <a:srgbClr val="D9DDE7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41832" y="1664208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Which slide-count pattern matches the target output?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87552" y="2331720"/>
            <a:ext cx="566928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A. 1–3 slides total</a:t>
            </a:r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B. 5–15 content slides, then 5–10 MCQ slides</a:t>
            </a:r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C. Unlimited content slides with no questions</a:t>
            </a:r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D. Questions first, teaching later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9264" y="468172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4E16"/>
                </a:solidFill>
              </a:rPr>
              <a:t>Answer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011680" y="46634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4E16"/>
                </a:solidFill>
              </a:rPr>
              <a:t>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9264" y="5029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6B4E16"/>
                </a:solidFill>
              </a:rPr>
              <a:t>The main deck teaches the material in a tight sequence. The question section comes after, so retrieval closes the loop rather than interrupting it.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96A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Brain Builder</dc:title>
  <dc:subject>Medical Brain Builder lecture overview system</dc:subject>
  <dc:creator>OpenAI</dc:creator>
  <cp:lastModifiedBy>OpenAI</cp:lastModifiedBy>
  <cp:revision>1</cp:revision>
  <dcterms:created xsi:type="dcterms:W3CDTF">2026-04-01T12:51:24Z</dcterms:created>
  <dcterms:modified xsi:type="dcterms:W3CDTF">2026-04-01T12:51:24Z</dcterms:modified>
</cp:coreProperties>
</file>